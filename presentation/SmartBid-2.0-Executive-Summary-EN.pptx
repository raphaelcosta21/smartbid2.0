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BID Lifecycle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0472"/>
            <a:ext cx="1077163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centralized solution that manages the entire BID lifecycle </a:t>
            </a:r>
            <a:pPr indent="0" marL="0">
              <a:buNone/>
            </a:pPr>
            <a:r>
              <a:rPr lang="en-US" sz="1500" dirty="0">
                <a:solidFill>
                  <a:srgbClr val="CF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replacing fragmented spreadsheets and email-based controls with a single, traceable workflow — to improve consistency, visibility and execution speed across BID activities.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7614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BID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918411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27248"/>
            <a:ext cx="1918411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3526" y="3346704"/>
            <a:ext cx="365760" cy="3657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3526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1735531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12187" y="3506724"/>
            <a:ext cx="292608" cy="292608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6235" y="3127248"/>
            <a:ext cx="1918411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96235" y="3127248"/>
            <a:ext cx="1918411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72561" y="3346704"/>
            <a:ext cx="365760" cy="3657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2561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87675" y="3767328"/>
            <a:ext cx="1735531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Analysis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1222" y="3506724"/>
            <a:ext cx="292608" cy="292608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5270" y="3127248"/>
            <a:ext cx="1918411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5270" y="3127248"/>
            <a:ext cx="1918411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1596" y="3346704"/>
            <a:ext cx="365760" cy="3657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1596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26710" y="3767328"/>
            <a:ext cx="1735531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Resources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90258" y="3506724"/>
            <a:ext cx="292608" cy="292608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4306" y="3127248"/>
            <a:ext cx="1918411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4306" y="3127248"/>
            <a:ext cx="1918411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0631" y="3346704"/>
            <a:ext cx="365760" cy="3657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0631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65746" y="3767328"/>
            <a:ext cx="1735531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429293" y="3506724"/>
            <a:ext cx="292608" cy="292608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13341" y="3127248"/>
            <a:ext cx="1918411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13341" y="3127248"/>
            <a:ext cx="1918411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89666" y="3346704"/>
            <a:ext cx="365760" cy="3657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89666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904781" y="3767328"/>
            <a:ext cx="1735531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Close-out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5488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improve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025396" y="486460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5875">
            <a:solidFill>
              <a:srgbClr val="1CA9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5396" y="48646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60036" y="486460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5875">
            <a:solidFill>
              <a:srgbClr val="1CA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0036" y="48646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94676" y="4864608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5875">
            <a:solidFill>
              <a:srgbClr val="1CA9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4676" y="48646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speed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Business 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Brazil Engineering BID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0011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37360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Bid Cycle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21408"/>
            <a:ext cx="518922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Request → Technical Analysis → Cost &amp; Resources → Proposal → Close-out in one connected workflow.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1554480"/>
            <a:ext cx="550011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554480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6228" y="1737360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&amp; Quality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6228" y="2121408"/>
            <a:ext cx="518922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productivity and quality in technical and cost preparation.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550011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76472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59352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Visibility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4343400"/>
            <a:ext cx="518922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analytics, reports and audit trails for full management visibility.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1636" y="3776472"/>
            <a:ext cx="550011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3776472"/>
            <a:ext cx="5500116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6228" y="3959352"/>
            <a:ext cx="5189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Rework &amp; Errors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6228" y="4343400"/>
            <a:ext cx="518922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rework and transcription errors through history tracking and revision control.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58064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Structures key stages — intake, technical analysis, costing, revisions, approvals and close-out — with governance through status/phase tracking, activity history and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SPFx (SharePoint Framework) with a React + TypeScript frontend.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&amp;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for state management and PnPjs for SharePoint integration.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Authentication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persisted in SharePoint lists (JSON model), with M365 enterprise authentication.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82012" y="4069080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2012" y="40690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6604" y="42519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Orchestration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46604" y="4636008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 + Microsoft Teams orchestrate approvals via Teams and email.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1636" y="4069080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1636" y="40690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6228" y="42519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by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6228" y="4636008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page and component structure for continuous solution evolution.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SmartBID 2.0 delivers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Tracking &amp; Timeline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tracking and timeline control across every phase.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&amp;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and analytics views for real-time insight.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1572768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572768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75564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139696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and multiple export options.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82012" y="4069080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2012" y="40690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6604" y="42519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&amp; Knowledge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46604" y="4636008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and knowledge support pages.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1636" y="4069080"/>
            <a:ext cx="357530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1636" y="4069080"/>
            <a:ext cx="3575304" cy="82296"/>
          </a:xfrm>
          <a:prstGeom prst="rect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6228" y="425196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&amp; Auditability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6228" y="4636008"/>
            <a:ext cx="3264408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 structure with full auditability.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Integration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next step — Azure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44752"/>
            <a:ext cx="107716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Human-in-the-loop:  </a:t>
            </a:r>
            <a:pPr indent="0" marL="0">
              <a:buNone/>
            </a:pPr>
            <a:r>
              <a:rPr lang="en-US" sz="1500" dirty="0">
                <a:solidFill>
                  <a:srgbClr val="CF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in development, the platform will be ready for AI integration focused on productivity — engineers always review and confirm before anything is saved.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9748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Extraction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98948" y="271576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8948" y="271576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081528"/>
            <a:ext cx="51892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supplier PDFs to capture item, quantity, cost, currency and lead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251460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251460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269748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 Drafting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073384" y="271576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73384" y="271576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6228" y="3081528"/>
            <a:ext cx="51892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drafting the Scope of Supply by reading technical documentation.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52628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Search (RAG)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98948" y="454456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8948" y="454456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910328"/>
            <a:ext cx="51892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search across the document database and BID history, with traceable answers.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1636" y="434340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1636" y="4343400"/>
            <a:ext cx="5500116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6228" y="4526280"/>
            <a:ext cx="4631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Suggestions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1073384" y="4544568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73384" y="454456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96228" y="4910328"/>
            <a:ext cx="51892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Suggestions for clarifications/qualifications and analytical support.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Rollout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Brazil first, then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822960" cy="45720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9262872" y="6446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3392424" cy="82296"/>
          </a:xfrm>
          <a:prstGeom prst="rect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0804" y="2286000"/>
            <a:ext cx="585216" cy="585216"/>
          </a:xfrm>
          <a:prstGeom prst="ellipse">
            <a:avLst/>
          </a:prstGeom>
          <a:solidFill>
            <a:srgbClr val="1CA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080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 in Brazil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and adopt SmartBID within the Brazil Engineering BID team.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95344" y="3017520"/>
            <a:ext cx="320040" cy="365760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192024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8264" y="1920240"/>
            <a:ext cx="3392424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1868" y="2286000"/>
            <a:ext cx="585216" cy="5852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1868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81144" y="3017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Stabilize &amp; Mature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26864" y="352044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the platform, refine workflows and reach a stable, mature solution.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36408" y="3017520"/>
            <a:ext cx="320040" cy="365760"/>
          </a:xfrm>
          <a:prstGeom prst="rightArrow">
            <a:avLst/>
          </a:prstGeom>
          <a:solidFill>
            <a:srgbClr val="0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192024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1920240"/>
            <a:ext cx="3392424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42932" y="228600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42932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22208" y="3017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to Other Regions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67928" y="352044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fully matured, extend to other regions where suitable.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E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 SmartBID locally in Brazil first; once stable and fully matured, scale to other regions where suitable.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Oceaneering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SmartBid 2.0 — Executive Summary</dc:title>
  <dc:subject>PptxGenJS Presentation</dc:subject>
  <dc:creator>Raphael Costa</dc:creator>
  <cp:lastModifiedBy>Raphael Costa</cp:lastModifiedBy>
  <cp:revision>1</cp:revision>
  <dcterms:created xsi:type="dcterms:W3CDTF">2026-07-31T11:59:14Z</dcterms:created>
  <dcterms:modified xsi:type="dcterms:W3CDTF">2026-07-31T11:59:14Z</dcterms:modified>
</cp:coreProperties>
</file>