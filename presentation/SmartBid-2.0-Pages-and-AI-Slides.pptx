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Costa" userId="16577ee0-1076-408a-af67-5685331dfd6c" providerId="ADAL" clId="{302E2A66-B2A8-402C-A25E-467F2542A692}"/>
    <pc:docChg chg="modSld">
      <pc:chgData name="Raphael Costa" userId="16577ee0-1076-408a-af67-5685331dfd6c" providerId="ADAL" clId="{302E2A66-B2A8-402C-A25E-467F2542A692}" dt="2026-07-27T12:40:33.571" v="10" actId="20577"/>
      <pc:docMkLst>
        <pc:docMk/>
      </pc:docMkLst>
      <pc:sldChg chg="modSp mod">
        <pc:chgData name="Raphael Costa" userId="16577ee0-1076-408a-af67-5685331dfd6c" providerId="ADAL" clId="{302E2A66-B2A8-402C-A25E-467F2542A692}" dt="2026-07-27T12:40:33.571" v="10" actId="20577"/>
        <pc:sldMkLst>
          <pc:docMk/>
          <pc:sldMk cId="0" sldId="260"/>
        </pc:sldMkLst>
        <pc:spChg chg="mod">
          <ac:chgData name="Raphael Costa" userId="16577ee0-1076-408a-af67-5685331dfd6c" providerId="ADAL" clId="{302E2A66-B2A8-402C-A25E-467F2542A692}" dt="2026-07-27T12:40:33.571" v="10" actId="20577"/>
          <ac:spMkLst>
            <pc:docMk/>
            <pc:sldMk cId="0" sldId="260"/>
            <ac:spMk id="3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02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 Navegação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Tracker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page. Visualização em Kanban, lista ou tabela.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6824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71416" y="213969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KPIs, gráficos e aprovações pendentes.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56448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Unassigned Requests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13969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Novas solicitações aguardando designação.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422452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" y="460857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 do tempo de fase e status por BID.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06824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06824" y="404164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71416" y="422452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Request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71416" y="460857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Formulário de intake estruturado (client, division, service line, PM).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6448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56448" y="404164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21040" y="422452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FAQ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1073384" y="424281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073384" y="424281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60857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e instruções guiadas ao longo do workflow.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559612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assistente/chatbot guiando o usuário no processo de BID.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 Navegação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 Catalog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ferramentas atualizado automaticamente. Cards ou lista.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6824" y="157276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175564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Templates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177393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177393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1416" y="213969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pré-montados de Scope of Supply.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71416" y="312724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gera/sugere o escopo a partir da solicitação e de BIDs anteriores.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56448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56448" y="157276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1040" y="175564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Datasheets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73384" y="177393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073384" y="177393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13969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Datasheets de diversas ferramentas. Cards ou lista.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312724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extrai especificações e habilita busca semântica.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" y="422452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Manuals &amp; Catalogs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74136" y="424281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74136" y="424281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" y="460857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Manuais e catálogos de ferramentas. Cards ou lista.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" y="559612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em linguagem natural (chat) sobre os documentos.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06824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06824" y="404164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71416" y="422452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Clarif. &amp; Qualif.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23760" y="424281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23760" y="424281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71416" y="460857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de clarifications e qualifications, com importação.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71416" y="559612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 respostas com base em casos já respondidos.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56448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56448" y="404164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21040" y="422452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&amp; Recommendations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321040" y="460857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úteis e notas gerais para apoiar o processo de BID.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 Navegação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&amp;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Trends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98948" y="184708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98948" y="184708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212848"/>
            <a:ext cx="51892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Tendências ao longo do tempo: volume de BIDs, tempo médio de conclusão, win rate e entregas no prazo (OTD).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227832"/>
            <a:ext cx="51892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prevê tendências e antecipa desvios (forecast de volume, prazo e win rate).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6459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1636" y="164592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96228" y="182880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Bottleneck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073384" y="184708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073384" y="184708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96228" y="2212848"/>
            <a:ext cx="51892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Identificação de gargalos: tempo por fase/status, BIDs mais demorados e carga por divisão.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96228" y="3227832"/>
            <a:ext cx="51892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 a causa-raiz dos gargalos e sugere ações.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5500116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4343400"/>
            <a:ext cx="5189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Analytics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" y="4727448"/>
            <a:ext cx="51892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Desempenho e carga da equipe: BIDs por owner, tempo médio de entrega e balanceamento de trabalho.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1636" y="41605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31636" y="4160520"/>
            <a:ext cx="5500116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96228" y="4343400"/>
            <a:ext cx="5189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Up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96228" y="4727448"/>
            <a:ext cx="51892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de BIDs concluídos (Won / Loss / Pending), win/loss e motivos de perda.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 Navegação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Export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57530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6517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035808"/>
            <a:ext cx="32644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Relatório consolidado de desempenho por período. Exportação em Excel, CSV ou impressão.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2468880"/>
            <a:ext cx="357530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6824" y="24688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26517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Details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71416" y="3035808"/>
            <a:ext cx="32644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Relatório detalhado por BID: custos, horas, equipamentos e histórico, pronto para exportar.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2468880"/>
            <a:ext cx="357530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56448" y="24688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Summary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035808"/>
            <a:ext cx="32644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operacional e throughput de BIDs para acompanhamento gerencial.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 Navegação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Favorites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74136" y="177393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74136" y="177393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13969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BIDs e equipamentos favoritados em grupos/subgrupos, com fotos e busca no catálogo.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12724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 ferramentas repetidas para salvar como favorito.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6824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06824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71416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 Costs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71416" y="213969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de custo de BOM: importação de árvore hierárquica com lookup de preços.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6448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56448" y="157276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1040" y="175564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73384" y="177393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073384" y="177393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13969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Cotações de aquisição/locação por fornecedor, com lead time, moeda e conversão para USD.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312724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 a importação de cotações no SmartBid.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82012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382012" y="404164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46604" y="422452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Tooling Report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98948" y="424281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98948" y="424281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46604" y="460857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Estatísticas de uso de ferramentas nos BIDs (qtd, custo, nº de BIDs) por divisão.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46604" y="559612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 conjuntos de ferramentas e sinaliza quantidades/custos fora do padrão.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31636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31636" y="404164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96228" y="422452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Consulting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96228" y="460857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de preços Peoplesoft (Financials / Brazil) com filtros por Business Unit e busca por </a:t>
            </a:r>
            <a:r>
              <a:rPr lang="en-US" sz="12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coluna</a:t>
            </a: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2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Comparti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 Navegação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57530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6517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Configuration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035808"/>
            <a:ext cx="32644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Configuração central: metas de KPI, divisões, tipos de BID, fases/status, clientes, custos e níveis de acesso.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2468880"/>
            <a:ext cx="357530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6824" y="24688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26517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71416" y="3035808"/>
            <a:ext cx="32644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membros e equipes (Commercial, Engineering, Project…) com papéis e atribuições.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2468880"/>
            <a:ext cx="357530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56448" y="24688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 Notes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035808"/>
            <a:ext cx="32644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de versões e changelog do sistema.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 Navegação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Detail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e Timeline do BID.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6824" y="157276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175564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&amp; Costing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177393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177393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1416" y="213969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Supply, Hours &amp; Personnel, Assets, Prep &amp; Mobilization, Logistics, Certifications, Cost Summary.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71416" y="312724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 draft de Scope of Supply e sugere recurso de pessoal com base em BIDs passados.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56448" y="157276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56448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1040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13969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Phases, Revisions, Approval e Documents.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82012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382012" y="4041648"/>
            <a:ext cx="357530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46604" y="4224528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98948" y="4242816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98948" y="424281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46604" y="4608576"/>
            <a:ext cx="32644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&amp; Comments e Clarif. &amp; Qualif.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46604" y="5596128"/>
            <a:ext cx="3264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IA:  </a:t>
            </a:r>
            <a:r>
              <a:rPr lang="en-US" sz="1050" i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 clarifications/qualifications de casos já respondidos.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31636" y="4041648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31636" y="404164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96228" y="422452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96228" y="4608576"/>
            <a:ext cx="3264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Analysis, Activity Log e Export.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Fases e Status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297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297680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83080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 total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167128"/>
            <a:ext cx="39867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etapa é rastreada com datas, responsáveis, tarefas e aprovações.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4297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4297680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3310128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" y="3694176"/>
            <a:ext cx="39867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de revisões para BIDs retrabalhados, sem perder histórico.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4297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654296"/>
            <a:ext cx="4297680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4837176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5221224"/>
            <a:ext cx="39867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log e trilha de auditoria completos por BID.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600200"/>
            <a:ext cx="6702552" cy="4160520"/>
          </a:xfrm>
          <a:prstGeom prst="roundRect">
            <a:avLst>
              <a:gd name="adj" fmla="val 1319"/>
            </a:avLst>
          </a:prstGeom>
          <a:solidFill>
            <a:srgbClr val="F5F8FA"/>
          </a:solidFill>
          <a:ln w="19050">
            <a:solidFill>
              <a:srgbClr val="1CA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3383280"/>
            <a:ext cx="6702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Cole aqui o screenshot: Phase Progress &amp; Detailed Flow 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Utilização de 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Implementação de IA no SmartBid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Extração de cotações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98948" y="184708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98948" y="184708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212848"/>
            <a:ext cx="51892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de um PDF de fornecedor → a IA preenche item, quantidade, unit cost, currency, lead time e supplier.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2990088"/>
            <a:ext cx="5170932" cy="384048"/>
          </a:xfrm>
          <a:prstGeom prst="roundRect">
            <a:avLst>
              <a:gd name="adj" fmla="val 11905"/>
            </a:avLst>
          </a:prstGeom>
          <a:solidFill>
            <a:srgbClr val="FEF6E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990088"/>
            <a:ext cx="51709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~15 min  →  &lt;3 min (apenas revisão)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16459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31636" y="164592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96228" y="182880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Supply Elaboration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073384" y="184708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73384" y="184708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6228" y="2212848"/>
            <a:ext cx="51892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IA lê a documentação técnica e sugere a estrutura de escopo e o mapeamento de equipamentos.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434340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Search (RAG)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98948" y="436168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98948" y="436168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4727448"/>
            <a:ext cx="51892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em datasheets e BIDs anteriores usando Azure AI Search + embeddings, com respostas rastreáveis.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1636" y="4160520"/>
            <a:ext cx="55001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31636" y="4160520"/>
            <a:ext cx="5500116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96228" y="4343400"/>
            <a:ext cx="5189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96228" y="4727448"/>
            <a:ext cx="51892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engenheiro sempre revisa e confirma antes de qualquer dado ser salvo. A IA assiste, não decide.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2194</TotalTime>
  <Words>882</Words>
  <Application>Microsoft Office PowerPoint</Application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Oceaneering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SmartBid 2.0 — Pages &amp; AI</dc:title>
  <dc:subject>PptxGenJS Presentation</dc:subject>
  <dc:creator>Raphael Costa</dc:creator>
  <cp:lastModifiedBy>Raphael Costa</cp:lastModifiedBy>
  <cp:revision>1</cp:revision>
  <dcterms:created xsi:type="dcterms:W3CDTF">2026-07-25T23:57:42Z</dcterms:created>
  <dcterms:modified xsi:type="dcterms:W3CDTF">2026-07-27T12:41:27Z</dcterms:modified>
</cp:coreProperties>
</file>